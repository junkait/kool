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7536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4953000" cy="1352550"/>
          </a:xfrm>
          <a:prstGeom prst="rect">
            <a:avLst/>
          </a:prstGeom>
        </p:spPr>
      </p:pic>
      <p:sp>
        <p:nvSpPr>
          <p:cNvPr id="3" name="System title"/>
          <p:cNvSpPr txBox="1"/>
          <p:nvPr/>
        </p:nvSpPr>
        <p:spPr>
          <a:xfrm>
            <a:off x="476250" y="1962150"/>
            <a:ext cx="495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spc="-225">
                <a:solidFill>
                  <a:srgbClr val="111111"/>
                </a:solidFill>
                <a:latin typeface="Arial"/>
              </a:rPr>
              <a:t>System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14350" y="33147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>
                <a:solidFill>
                  <a:srgbClr val="555555"/>
                </a:solidFill>
                <a:latin typeface="Arial"/>
              </a:rPr>
              <a:t>Single split · 1 room · 5 Ticks</a:t>
            </a:r>
          </a:p>
        </p:txBody>
      </p:sp>
      <p:sp>
        <p:nvSpPr>
          <p:cNvPr id="5" name="Materials card"/>
          <p:cNvSpPr/>
          <p:nvPr/>
        </p:nvSpPr>
        <p:spPr>
          <a:xfrm>
            <a:off x="5600700" y="419100"/>
            <a:ext cx="37338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aterials photo" descr="install-pipes-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609600"/>
            <a:ext cx="3352800" cy="1428750"/>
          </a:xfrm>
          <a:prstGeom prst="rect">
            <a:avLst/>
          </a:prstGeom>
        </p:spPr>
      </p:pic>
      <p:sp>
        <p:nvSpPr>
          <p:cNvPr id="7" name="Materials heading"/>
          <p:cNvSpPr txBox="1"/>
          <p:nvPr/>
        </p:nvSpPr>
        <p:spPr>
          <a:xfrm>
            <a:off x="5791200" y="21907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111111"/>
                </a:solidFill>
                <a:latin typeface="Arial"/>
              </a:rPr>
              <a:t>We only use high quality materials</a:t>
            </a:r>
          </a:p>
        </p:txBody>
      </p:sp>
      <p:sp>
        <p:nvSpPr>
          <p:cNvPr id="8" name="Tick 1"/>
          <p:cNvSpPr txBox="1"/>
          <p:nvPr/>
        </p:nvSpPr>
        <p:spPr>
          <a:xfrm>
            <a:off x="5791200" y="29718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9" name="Material 1"/>
          <p:cNvSpPr txBox="1"/>
          <p:nvPr/>
        </p:nvSpPr>
        <p:spPr>
          <a:xfrm>
            <a:off x="6076950" y="29908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22g copper pipes</a:t>
            </a:r>
          </a:p>
        </p:txBody>
      </p:sp>
      <p:sp>
        <p:nvSpPr>
          <p:cNvPr id="10" name="Tick 2"/>
          <p:cNvSpPr txBox="1"/>
          <p:nvPr/>
        </p:nvSpPr>
        <p:spPr>
          <a:xfrm>
            <a:off x="5791200" y="329565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1" name="Material 2"/>
          <p:cNvSpPr txBox="1"/>
          <p:nvPr/>
        </p:nvSpPr>
        <p:spPr>
          <a:xfrm>
            <a:off x="6076950" y="33147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K-Flex Titan</a:t>
            </a:r>
          </a:p>
        </p:txBody>
      </p:sp>
      <p:sp>
        <p:nvSpPr>
          <p:cNvPr id="12" name="Tick 3"/>
          <p:cNvSpPr txBox="1"/>
          <p:nvPr/>
        </p:nvSpPr>
        <p:spPr>
          <a:xfrm>
            <a:off x="5791200" y="36195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3" name="Material 3"/>
          <p:cNvSpPr txBox="1"/>
          <p:nvPr/>
        </p:nvSpPr>
        <p:spPr>
          <a:xfrm>
            <a:off x="6076950" y="36385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Keystone branded cables</a:t>
            </a:r>
          </a:p>
        </p:txBody>
      </p:sp>
      <p:pic>
        <p:nvPicPr>
          <p:cNvPr id="14" name="Indoor unit 1" descr="mit-indoor-g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05300"/>
            <a:ext cx="4953000" cy="1790700"/>
          </a:xfrm>
          <a:prstGeom prst="rect">
            <a:avLst/>
          </a:prstGeom>
        </p:spPr>
      </p:pic>
      <p:pic>
        <p:nvPicPr>
          <p:cNvPr id="15" name="Outdoor unit" descr="mit-outdoor-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7277100"/>
            <a:ext cx="4543425" cy="2247900"/>
          </a:xfrm>
          <a:prstGeom prst="rect">
            <a:avLst/>
          </a:prstGeom>
        </p:spPr>
      </p:pic>
      <p:pic>
        <p:nvPicPr>
          <p:cNvPr id="16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8343900"/>
            <a:ext cx="1905000" cy="800100"/>
          </a:xfrm>
          <a:prstGeom prst="rect">
            <a:avLst/>
          </a:prstGeom>
        </p:spPr>
      </p:pic>
      <p:sp>
        <p:nvSpPr>
          <p:cNvPr id="17" name="Shop name"/>
          <p:cNvSpPr txBox="1"/>
          <p:nvPr/>
        </p:nvSpPr>
        <p:spPr>
          <a:xfrm>
            <a:off x="495300" y="92583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555555"/>
                </a:solidFill>
                <a:latin typeface="Arial"/>
              </a:rPr>
              <a:t>Kool &amp; Kleen Aircon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4953000" cy="1352550"/>
          </a:xfrm>
          <a:prstGeom prst="rect">
            <a:avLst/>
          </a:prstGeom>
        </p:spPr>
      </p:pic>
      <p:sp>
        <p:nvSpPr>
          <p:cNvPr id="3" name="System title"/>
          <p:cNvSpPr txBox="1"/>
          <p:nvPr/>
        </p:nvSpPr>
        <p:spPr>
          <a:xfrm>
            <a:off x="476250" y="1962150"/>
            <a:ext cx="495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spc="-225">
                <a:solidFill>
                  <a:srgbClr val="111111"/>
                </a:solidFill>
                <a:latin typeface="Arial"/>
              </a:rPr>
              <a:t>System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14350" y="33147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>
                <a:solidFill>
                  <a:srgbClr val="555555"/>
                </a:solidFill>
                <a:latin typeface="Arial"/>
              </a:rPr>
              <a:t>Up to 2 rooms · 5 Ticks</a:t>
            </a:r>
          </a:p>
        </p:txBody>
      </p:sp>
      <p:sp>
        <p:nvSpPr>
          <p:cNvPr id="5" name="Materials card"/>
          <p:cNvSpPr/>
          <p:nvPr/>
        </p:nvSpPr>
        <p:spPr>
          <a:xfrm>
            <a:off x="5600700" y="419100"/>
            <a:ext cx="37338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aterials photo" descr="install-pipes-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609600"/>
            <a:ext cx="3352800" cy="1428750"/>
          </a:xfrm>
          <a:prstGeom prst="rect">
            <a:avLst/>
          </a:prstGeom>
        </p:spPr>
      </p:pic>
      <p:sp>
        <p:nvSpPr>
          <p:cNvPr id="7" name="Materials heading"/>
          <p:cNvSpPr txBox="1"/>
          <p:nvPr/>
        </p:nvSpPr>
        <p:spPr>
          <a:xfrm>
            <a:off x="5791200" y="21907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111111"/>
                </a:solidFill>
                <a:latin typeface="Arial"/>
              </a:rPr>
              <a:t>We only use high quality materials</a:t>
            </a:r>
          </a:p>
        </p:txBody>
      </p:sp>
      <p:sp>
        <p:nvSpPr>
          <p:cNvPr id="8" name="Tick 1"/>
          <p:cNvSpPr txBox="1"/>
          <p:nvPr/>
        </p:nvSpPr>
        <p:spPr>
          <a:xfrm>
            <a:off x="5791200" y="29718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9" name="Material 1"/>
          <p:cNvSpPr txBox="1"/>
          <p:nvPr/>
        </p:nvSpPr>
        <p:spPr>
          <a:xfrm>
            <a:off x="6076950" y="29908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22g copper pipes</a:t>
            </a:r>
          </a:p>
        </p:txBody>
      </p:sp>
      <p:sp>
        <p:nvSpPr>
          <p:cNvPr id="10" name="Tick 2"/>
          <p:cNvSpPr txBox="1"/>
          <p:nvPr/>
        </p:nvSpPr>
        <p:spPr>
          <a:xfrm>
            <a:off x="5791200" y="329565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1" name="Material 2"/>
          <p:cNvSpPr txBox="1"/>
          <p:nvPr/>
        </p:nvSpPr>
        <p:spPr>
          <a:xfrm>
            <a:off x="6076950" y="33147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K-Flex Titan</a:t>
            </a:r>
          </a:p>
        </p:txBody>
      </p:sp>
      <p:sp>
        <p:nvSpPr>
          <p:cNvPr id="12" name="Tick 3"/>
          <p:cNvSpPr txBox="1"/>
          <p:nvPr/>
        </p:nvSpPr>
        <p:spPr>
          <a:xfrm>
            <a:off x="5791200" y="36195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3" name="Material 3"/>
          <p:cNvSpPr txBox="1"/>
          <p:nvPr/>
        </p:nvSpPr>
        <p:spPr>
          <a:xfrm>
            <a:off x="6076950" y="36385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Keystone branded cables</a:t>
            </a:r>
          </a:p>
        </p:txBody>
      </p:sp>
      <p:pic>
        <p:nvPicPr>
          <p:cNvPr id="14" name="Indoor unit 1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05300"/>
            <a:ext cx="4381500" cy="1419225"/>
          </a:xfrm>
          <a:prstGeom prst="rect">
            <a:avLst/>
          </a:prstGeom>
        </p:spPr>
      </p:pic>
      <p:pic>
        <p:nvPicPr>
          <p:cNvPr id="15" name="Indoor unit 2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5429250"/>
            <a:ext cx="4381500" cy="1419225"/>
          </a:xfrm>
          <a:prstGeom prst="rect">
            <a:avLst/>
          </a:prstGeom>
        </p:spPr>
      </p:pic>
      <p:pic>
        <p:nvPicPr>
          <p:cNvPr id="16" name="Outdoor unit" descr="mit-outdoor-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7200900"/>
            <a:ext cx="4476750" cy="2324100"/>
          </a:xfrm>
          <a:prstGeom prst="rect">
            <a:avLst/>
          </a:prstGeom>
        </p:spPr>
      </p:pic>
      <p:pic>
        <p:nvPicPr>
          <p:cNvPr id="17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8343900"/>
            <a:ext cx="1905000" cy="800100"/>
          </a:xfrm>
          <a:prstGeom prst="rect">
            <a:avLst/>
          </a:prstGeom>
        </p:spPr>
      </p:pic>
      <p:sp>
        <p:nvSpPr>
          <p:cNvPr id="18" name="Shop name"/>
          <p:cNvSpPr txBox="1"/>
          <p:nvPr/>
        </p:nvSpPr>
        <p:spPr>
          <a:xfrm>
            <a:off x="495300" y="92583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555555"/>
                </a:solidFill>
                <a:latin typeface="Arial"/>
              </a:rPr>
              <a:t>Kool &amp; Kleen Aircon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4953000" cy="1352550"/>
          </a:xfrm>
          <a:prstGeom prst="rect">
            <a:avLst/>
          </a:prstGeom>
        </p:spPr>
      </p:pic>
      <p:sp>
        <p:nvSpPr>
          <p:cNvPr id="3" name="System title"/>
          <p:cNvSpPr txBox="1"/>
          <p:nvPr/>
        </p:nvSpPr>
        <p:spPr>
          <a:xfrm>
            <a:off x="476250" y="1962150"/>
            <a:ext cx="495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spc="-225">
                <a:solidFill>
                  <a:srgbClr val="111111"/>
                </a:solidFill>
                <a:latin typeface="Arial"/>
              </a:rPr>
              <a:t>System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14350" y="33147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>
                <a:solidFill>
                  <a:srgbClr val="555555"/>
                </a:solidFill>
                <a:latin typeface="Arial"/>
              </a:rPr>
              <a:t>Up to 3 rooms · 5 Ticks</a:t>
            </a:r>
          </a:p>
        </p:txBody>
      </p:sp>
      <p:sp>
        <p:nvSpPr>
          <p:cNvPr id="5" name="Materials card"/>
          <p:cNvSpPr/>
          <p:nvPr/>
        </p:nvSpPr>
        <p:spPr>
          <a:xfrm>
            <a:off x="5600700" y="419100"/>
            <a:ext cx="37338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aterials photo" descr="install-pipes-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609600"/>
            <a:ext cx="3352800" cy="1428750"/>
          </a:xfrm>
          <a:prstGeom prst="rect">
            <a:avLst/>
          </a:prstGeom>
        </p:spPr>
      </p:pic>
      <p:sp>
        <p:nvSpPr>
          <p:cNvPr id="7" name="Materials heading"/>
          <p:cNvSpPr txBox="1"/>
          <p:nvPr/>
        </p:nvSpPr>
        <p:spPr>
          <a:xfrm>
            <a:off x="5791200" y="21907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111111"/>
                </a:solidFill>
                <a:latin typeface="Arial"/>
              </a:rPr>
              <a:t>We only use high quality materials</a:t>
            </a:r>
          </a:p>
        </p:txBody>
      </p:sp>
      <p:sp>
        <p:nvSpPr>
          <p:cNvPr id="8" name="Tick 1"/>
          <p:cNvSpPr txBox="1"/>
          <p:nvPr/>
        </p:nvSpPr>
        <p:spPr>
          <a:xfrm>
            <a:off x="5791200" y="29718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9" name="Material 1"/>
          <p:cNvSpPr txBox="1"/>
          <p:nvPr/>
        </p:nvSpPr>
        <p:spPr>
          <a:xfrm>
            <a:off x="6076950" y="29908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22g copper pipes</a:t>
            </a:r>
          </a:p>
        </p:txBody>
      </p:sp>
      <p:sp>
        <p:nvSpPr>
          <p:cNvPr id="10" name="Tick 2"/>
          <p:cNvSpPr txBox="1"/>
          <p:nvPr/>
        </p:nvSpPr>
        <p:spPr>
          <a:xfrm>
            <a:off x="5791200" y="329565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1" name="Material 2"/>
          <p:cNvSpPr txBox="1"/>
          <p:nvPr/>
        </p:nvSpPr>
        <p:spPr>
          <a:xfrm>
            <a:off x="6076950" y="33147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K-Flex Titan</a:t>
            </a:r>
          </a:p>
        </p:txBody>
      </p:sp>
      <p:sp>
        <p:nvSpPr>
          <p:cNvPr id="12" name="Tick 3"/>
          <p:cNvSpPr txBox="1"/>
          <p:nvPr/>
        </p:nvSpPr>
        <p:spPr>
          <a:xfrm>
            <a:off x="5791200" y="36195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3" name="Material 3"/>
          <p:cNvSpPr txBox="1"/>
          <p:nvPr/>
        </p:nvSpPr>
        <p:spPr>
          <a:xfrm>
            <a:off x="6076950" y="36385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Keystone branded cables</a:t>
            </a:r>
          </a:p>
        </p:txBody>
      </p:sp>
      <p:pic>
        <p:nvPicPr>
          <p:cNvPr id="14" name="Indoor unit 1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05300"/>
            <a:ext cx="4533900" cy="1466850"/>
          </a:xfrm>
          <a:prstGeom prst="rect">
            <a:avLst/>
          </a:prstGeom>
        </p:spPr>
      </p:pic>
      <p:pic>
        <p:nvPicPr>
          <p:cNvPr id="15" name="Indoor unit 2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295900"/>
            <a:ext cx="4533900" cy="1466850"/>
          </a:xfrm>
          <a:prstGeom prst="rect">
            <a:avLst/>
          </a:prstGeom>
        </p:spPr>
      </p:pic>
      <p:pic>
        <p:nvPicPr>
          <p:cNvPr id="16" name="Indoor unit 3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286500"/>
            <a:ext cx="4533900" cy="1466850"/>
          </a:xfrm>
          <a:prstGeom prst="rect">
            <a:avLst/>
          </a:prstGeom>
        </p:spPr>
      </p:pic>
      <p:pic>
        <p:nvPicPr>
          <p:cNvPr id="17" name="Outdoor unit" descr="mit-outdoor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6896100"/>
            <a:ext cx="3714750" cy="2628900"/>
          </a:xfrm>
          <a:prstGeom prst="rect">
            <a:avLst/>
          </a:prstGeom>
        </p:spPr>
      </p:pic>
      <p:pic>
        <p:nvPicPr>
          <p:cNvPr id="18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8343900"/>
            <a:ext cx="1905000" cy="800100"/>
          </a:xfrm>
          <a:prstGeom prst="rect">
            <a:avLst/>
          </a:prstGeom>
        </p:spPr>
      </p:pic>
      <p:sp>
        <p:nvSpPr>
          <p:cNvPr id="19" name="Shop name"/>
          <p:cNvSpPr txBox="1"/>
          <p:nvPr/>
        </p:nvSpPr>
        <p:spPr>
          <a:xfrm>
            <a:off x="495300" y="92583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555555"/>
                </a:solidFill>
                <a:latin typeface="Arial"/>
              </a:rPr>
              <a:t>Kool &amp; Kleen Aircon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itsubishi Starmex logo" descr="starm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9100"/>
            <a:ext cx="4953000" cy="1352550"/>
          </a:xfrm>
          <a:prstGeom prst="rect">
            <a:avLst/>
          </a:prstGeom>
        </p:spPr>
      </p:pic>
      <p:sp>
        <p:nvSpPr>
          <p:cNvPr id="3" name="System title"/>
          <p:cNvSpPr txBox="1"/>
          <p:nvPr/>
        </p:nvSpPr>
        <p:spPr>
          <a:xfrm>
            <a:off x="476250" y="1962150"/>
            <a:ext cx="495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spc="-225">
                <a:solidFill>
                  <a:srgbClr val="111111"/>
                </a:solidFill>
                <a:latin typeface="Arial"/>
              </a:rPr>
              <a:t>System 4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14350" y="33147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>
                <a:solidFill>
                  <a:srgbClr val="555555"/>
                </a:solidFill>
                <a:latin typeface="Arial"/>
              </a:rPr>
              <a:t>Up to 4 rooms · 5 Ticks</a:t>
            </a:r>
          </a:p>
        </p:txBody>
      </p:sp>
      <p:sp>
        <p:nvSpPr>
          <p:cNvPr id="5" name="Materials card"/>
          <p:cNvSpPr/>
          <p:nvPr/>
        </p:nvSpPr>
        <p:spPr>
          <a:xfrm>
            <a:off x="5600700" y="419100"/>
            <a:ext cx="37338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aterials photo" descr="install-pipes-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609600"/>
            <a:ext cx="3352800" cy="1428750"/>
          </a:xfrm>
          <a:prstGeom prst="rect">
            <a:avLst/>
          </a:prstGeom>
        </p:spPr>
      </p:pic>
      <p:sp>
        <p:nvSpPr>
          <p:cNvPr id="7" name="Materials heading"/>
          <p:cNvSpPr txBox="1"/>
          <p:nvPr/>
        </p:nvSpPr>
        <p:spPr>
          <a:xfrm>
            <a:off x="5791200" y="2190750"/>
            <a:ext cx="3352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111111"/>
                </a:solidFill>
                <a:latin typeface="Arial"/>
              </a:rPr>
              <a:t>We only use high quality materials</a:t>
            </a:r>
          </a:p>
        </p:txBody>
      </p:sp>
      <p:sp>
        <p:nvSpPr>
          <p:cNvPr id="8" name="Tick 1"/>
          <p:cNvSpPr txBox="1"/>
          <p:nvPr/>
        </p:nvSpPr>
        <p:spPr>
          <a:xfrm>
            <a:off x="5791200" y="29718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9" name="Material 1"/>
          <p:cNvSpPr txBox="1"/>
          <p:nvPr/>
        </p:nvSpPr>
        <p:spPr>
          <a:xfrm>
            <a:off x="6076950" y="29908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22g copper pipes</a:t>
            </a:r>
          </a:p>
        </p:txBody>
      </p:sp>
      <p:sp>
        <p:nvSpPr>
          <p:cNvPr id="10" name="Tick 2"/>
          <p:cNvSpPr txBox="1"/>
          <p:nvPr/>
        </p:nvSpPr>
        <p:spPr>
          <a:xfrm>
            <a:off x="5791200" y="329565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1" name="Material 2"/>
          <p:cNvSpPr txBox="1"/>
          <p:nvPr/>
        </p:nvSpPr>
        <p:spPr>
          <a:xfrm>
            <a:off x="6076950" y="33147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K-Flex Titan</a:t>
            </a:r>
          </a:p>
        </p:txBody>
      </p:sp>
      <p:sp>
        <p:nvSpPr>
          <p:cNvPr id="12" name="Tick 3"/>
          <p:cNvSpPr txBox="1"/>
          <p:nvPr/>
        </p:nvSpPr>
        <p:spPr>
          <a:xfrm>
            <a:off x="5791200" y="3619500"/>
            <a:ext cx="247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AD92"/>
                </a:solidFill>
                <a:latin typeface="Arial"/>
              </a:rPr>
              <a:t>✓</a:t>
            </a:r>
          </a:p>
        </p:txBody>
      </p:sp>
      <p:sp>
        <p:nvSpPr>
          <p:cNvPr id="13" name="Material 3"/>
          <p:cNvSpPr txBox="1"/>
          <p:nvPr/>
        </p:nvSpPr>
        <p:spPr>
          <a:xfrm>
            <a:off x="6076950" y="36385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75" b="1">
                <a:solidFill>
                  <a:srgbClr val="111111"/>
                </a:solidFill>
                <a:latin typeface="Arial"/>
              </a:rPr>
              <a:t>Keystone branded cables</a:t>
            </a:r>
          </a:p>
        </p:txBody>
      </p:sp>
      <p:pic>
        <p:nvPicPr>
          <p:cNvPr id="14" name="Indoor unit 1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05300"/>
            <a:ext cx="3810000" cy="1238250"/>
          </a:xfrm>
          <a:prstGeom prst="rect">
            <a:avLst/>
          </a:prstGeom>
        </p:spPr>
      </p:pic>
      <p:pic>
        <p:nvPicPr>
          <p:cNvPr id="15" name="Indoor unit 2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5105400"/>
            <a:ext cx="3810000" cy="1238250"/>
          </a:xfrm>
          <a:prstGeom prst="rect">
            <a:avLst/>
          </a:prstGeom>
        </p:spPr>
      </p:pic>
      <p:pic>
        <p:nvPicPr>
          <p:cNvPr id="16" name="Indoor unit 3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905500"/>
            <a:ext cx="3810000" cy="1238250"/>
          </a:xfrm>
          <a:prstGeom prst="rect">
            <a:avLst/>
          </a:prstGeom>
        </p:spPr>
      </p:pic>
      <p:pic>
        <p:nvPicPr>
          <p:cNvPr id="17" name="Indoor unit 4" descr="mit-indoor-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6705600"/>
            <a:ext cx="4400550" cy="1428750"/>
          </a:xfrm>
          <a:prstGeom prst="rect">
            <a:avLst/>
          </a:prstGeom>
        </p:spPr>
      </p:pic>
      <p:pic>
        <p:nvPicPr>
          <p:cNvPr id="18" name="Outdoor unit" descr="mit-outdoor-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450" y="6762750"/>
            <a:ext cx="4210050" cy="2762250"/>
          </a:xfrm>
          <a:prstGeom prst="rect">
            <a:avLst/>
          </a:prstGeom>
        </p:spPr>
      </p:pic>
      <p:pic>
        <p:nvPicPr>
          <p:cNvPr id="19" name="Kool logo" descr="koo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8343900"/>
            <a:ext cx="1905000" cy="800100"/>
          </a:xfrm>
          <a:prstGeom prst="rect">
            <a:avLst/>
          </a:prstGeom>
        </p:spPr>
      </p:pic>
      <p:sp>
        <p:nvSpPr>
          <p:cNvPr id="20" name="Shop name"/>
          <p:cNvSpPr txBox="1"/>
          <p:nvPr/>
        </p:nvSpPr>
        <p:spPr>
          <a:xfrm>
            <a:off x="495300" y="92583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555555"/>
                </a:solidFill>
                <a:latin typeface="Arial"/>
              </a:rPr>
              <a:t>Kool &amp; Kleen Aircon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