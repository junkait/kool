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ool logo" descr="k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33350"/>
            <a:ext cx="1695450" cy="714375"/>
          </a:xfrm>
          <a:prstGeom prst="rect">
            <a:avLst/>
          </a:prstGeom>
        </p:spPr>
      </p:pic>
      <p:pic>
        <p:nvPicPr>
          <p:cNvPr id="3" name="Mitsubishi Starmex logo" descr="starme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685800"/>
            <a:ext cx="5334000" cy="1457325"/>
          </a:xfrm>
          <a:prstGeom prst="rect">
            <a:avLst/>
          </a:prstGeom>
        </p:spPr>
      </p:pic>
      <p:pic>
        <p:nvPicPr>
          <p:cNvPr id="4" name="NEA energy label" descr="label-s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0" y="704850"/>
            <a:ext cx="1257300" cy="1295400"/>
          </a:xfrm>
          <a:prstGeom prst="rect">
            <a:avLst/>
          </a:prstGeom>
        </p:spPr>
      </p:pic>
      <p:pic>
        <p:nvPicPr>
          <p:cNvPr id="5" name="Outdoor unit" descr="unit-s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700" y="2857500"/>
            <a:ext cx="4410075" cy="2857500"/>
          </a:xfrm>
          <a:prstGeom prst="rect">
            <a:avLst/>
          </a:prstGeom>
        </p:spPr>
      </p:pic>
      <p:pic>
        <p:nvPicPr>
          <p:cNvPr id="6" name="Indoor unit 1" descr="mit-indoor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3733800"/>
            <a:ext cx="2819400" cy="1019175"/>
          </a:xfrm>
          <a:prstGeom prst="rect">
            <a:avLst/>
          </a:prstGeom>
        </p:spPr>
      </p:pic>
      <p:sp>
        <p:nvSpPr>
          <p:cNvPr id="7" name="System title"/>
          <p:cNvSpPr txBox="1"/>
          <p:nvPr/>
        </p:nvSpPr>
        <p:spPr>
          <a:xfrm>
            <a:off x="0" y="6362700"/>
            <a:ext cx="10287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50" b="1">
                <a:solidFill>
                  <a:srgbClr val="111111"/>
                </a:solidFill>
                <a:latin typeface="Arial"/>
              </a:rPr>
              <a:t>System 1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0" y="748665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>
                <a:solidFill>
                  <a:srgbClr val="444444"/>
                </a:solidFill>
                <a:latin typeface="Arial"/>
              </a:rPr>
              <a:t>Single split · 1 room · 5 Ticks</a:t>
            </a:r>
          </a:p>
        </p:txBody>
      </p:sp>
      <p:sp>
        <p:nvSpPr>
          <p:cNvPr id="9" name="Free upgrade heading"/>
          <p:cNvSpPr txBox="1"/>
          <p:nvPr/>
        </p:nvSpPr>
        <p:spPr>
          <a:xfrm>
            <a:off x="285750" y="8458200"/>
            <a:ext cx="28575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5BAD92"/>
                </a:solidFill>
                <a:latin typeface="Arial"/>
              </a:rPr>
              <a:t>Free Upgrade To Premium Materials</a:t>
            </a:r>
          </a:p>
        </p:txBody>
      </p:sp>
      <p:pic>
        <p:nvPicPr>
          <p:cNvPr id="10" name="Material tile 1" descr="tile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4225" y="8201025"/>
            <a:ext cx="1714500" cy="1762125"/>
          </a:xfrm>
          <a:prstGeom prst="rect">
            <a:avLst/>
          </a:prstGeom>
        </p:spPr>
      </p:pic>
      <p:pic>
        <p:nvPicPr>
          <p:cNvPr id="11" name="Material tile 2" descr="tile-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0650" y="8201025"/>
            <a:ext cx="1762125" cy="1762125"/>
          </a:xfrm>
          <a:prstGeom prst="rect">
            <a:avLst/>
          </a:prstGeom>
        </p:spPr>
      </p:pic>
      <p:pic>
        <p:nvPicPr>
          <p:cNvPr id="12" name="Material tile 3" descr="tile-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2325" y="8201025"/>
            <a:ext cx="1676400" cy="1762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ool logo" descr="k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33350"/>
            <a:ext cx="1695450" cy="714375"/>
          </a:xfrm>
          <a:prstGeom prst="rect">
            <a:avLst/>
          </a:prstGeom>
        </p:spPr>
      </p:pic>
      <p:pic>
        <p:nvPicPr>
          <p:cNvPr id="3" name="Mitsubishi Starmex logo" descr="starme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685800"/>
            <a:ext cx="5334000" cy="1457325"/>
          </a:xfrm>
          <a:prstGeom prst="rect">
            <a:avLst/>
          </a:prstGeom>
        </p:spPr>
      </p:pic>
      <p:pic>
        <p:nvPicPr>
          <p:cNvPr id="4" name="NEA energy label" descr="label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0" y="704850"/>
            <a:ext cx="1295400" cy="1295400"/>
          </a:xfrm>
          <a:prstGeom prst="rect">
            <a:avLst/>
          </a:prstGeom>
        </p:spPr>
      </p:pic>
      <p:pic>
        <p:nvPicPr>
          <p:cNvPr id="5" name="Outdoor unit" descr="unit-s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8925" y="2762250"/>
            <a:ext cx="4629150" cy="3048000"/>
          </a:xfrm>
          <a:prstGeom prst="rect">
            <a:avLst/>
          </a:prstGeom>
        </p:spPr>
      </p:pic>
      <p:pic>
        <p:nvPicPr>
          <p:cNvPr id="6" name="Indoor unit 1" descr="mit-indoor-f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3219450"/>
            <a:ext cx="2686050" cy="876300"/>
          </a:xfrm>
          <a:prstGeom prst="rect">
            <a:avLst/>
          </a:prstGeom>
        </p:spPr>
      </p:pic>
      <p:pic>
        <p:nvPicPr>
          <p:cNvPr id="7" name="Indoor unit 2" descr="mit-indoor-f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0" y="3219450"/>
            <a:ext cx="2686050" cy="876300"/>
          </a:xfrm>
          <a:prstGeom prst="rect">
            <a:avLst/>
          </a:prstGeom>
        </p:spPr>
      </p:pic>
      <p:sp>
        <p:nvSpPr>
          <p:cNvPr id="8" name="System title"/>
          <p:cNvSpPr txBox="1"/>
          <p:nvPr/>
        </p:nvSpPr>
        <p:spPr>
          <a:xfrm>
            <a:off x="0" y="6362700"/>
            <a:ext cx="10287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50" b="1">
                <a:solidFill>
                  <a:srgbClr val="111111"/>
                </a:solidFill>
                <a:latin typeface="Arial"/>
              </a:rPr>
              <a:t>System 2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0" y="748665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>
                <a:solidFill>
                  <a:srgbClr val="444444"/>
                </a:solidFill>
                <a:latin typeface="Arial"/>
              </a:rPr>
              <a:t>Up to 2 rooms · 5 Ticks</a:t>
            </a:r>
          </a:p>
        </p:txBody>
      </p:sp>
      <p:sp>
        <p:nvSpPr>
          <p:cNvPr id="10" name="Free upgrade heading"/>
          <p:cNvSpPr txBox="1"/>
          <p:nvPr/>
        </p:nvSpPr>
        <p:spPr>
          <a:xfrm>
            <a:off x="285750" y="8458200"/>
            <a:ext cx="28575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5BAD92"/>
                </a:solidFill>
                <a:latin typeface="Arial"/>
              </a:rPr>
              <a:t>Free Upgrade To Premium Materials</a:t>
            </a:r>
          </a:p>
        </p:txBody>
      </p:sp>
      <p:pic>
        <p:nvPicPr>
          <p:cNvPr id="11" name="Material tile 1" descr="tile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4225" y="8201025"/>
            <a:ext cx="1714500" cy="1762125"/>
          </a:xfrm>
          <a:prstGeom prst="rect">
            <a:avLst/>
          </a:prstGeom>
        </p:spPr>
      </p:pic>
      <p:pic>
        <p:nvPicPr>
          <p:cNvPr id="12" name="Material tile 2" descr="tile-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0650" y="8201025"/>
            <a:ext cx="1762125" cy="1762125"/>
          </a:xfrm>
          <a:prstGeom prst="rect">
            <a:avLst/>
          </a:prstGeom>
        </p:spPr>
      </p:pic>
      <p:pic>
        <p:nvPicPr>
          <p:cNvPr id="13" name="Material tile 3" descr="tile-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2325" y="8201025"/>
            <a:ext cx="1676400" cy="1762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ool logo" descr="k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33350"/>
            <a:ext cx="1695450" cy="714375"/>
          </a:xfrm>
          <a:prstGeom prst="rect">
            <a:avLst/>
          </a:prstGeom>
        </p:spPr>
      </p:pic>
      <p:pic>
        <p:nvPicPr>
          <p:cNvPr id="3" name="Mitsubishi Starmex logo" descr="starme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685800"/>
            <a:ext cx="5334000" cy="1457325"/>
          </a:xfrm>
          <a:prstGeom prst="rect">
            <a:avLst/>
          </a:prstGeom>
        </p:spPr>
      </p:pic>
      <p:pic>
        <p:nvPicPr>
          <p:cNvPr id="4" name="NEA energy label" descr="label-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0" y="704850"/>
            <a:ext cx="1295400" cy="1295400"/>
          </a:xfrm>
          <a:prstGeom prst="rect">
            <a:avLst/>
          </a:prstGeom>
        </p:spPr>
      </p:pic>
      <p:pic>
        <p:nvPicPr>
          <p:cNvPr id="5" name="Outdoor unit" descr="unit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2619375"/>
            <a:ext cx="3743325" cy="3333750"/>
          </a:xfrm>
          <a:prstGeom prst="rect">
            <a:avLst/>
          </a:prstGeom>
        </p:spPr>
      </p:pic>
      <p:pic>
        <p:nvPicPr>
          <p:cNvPr id="6" name="Indoor unit 1" descr="mit-indoor-f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2552700"/>
            <a:ext cx="3143250" cy="1019175"/>
          </a:xfrm>
          <a:prstGeom prst="rect">
            <a:avLst/>
          </a:prstGeom>
        </p:spPr>
      </p:pic>
      <p:pic>
        <p:nvPicPr>
          <p:cNvPr id="7" name="Indoor unit 2" descr="mit-indoor-f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4305300"/>
            <a:ext cx="3143250" cy="1019175"/>
          </a:xfrm>
          <a:prstGeom prst="rect">
            <a:avLst/>
          </a:prstGeom>
        </p:spPr>
      </p:pic>
      <p:pic>
        <p:nvPicPr>
          <p:cNvPr id="8" name="Indoor unit 3" descr="mit-indoor-f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7550" y="3429000"/>
            <a:ext cx="3143250" cy="1019175"/>
          </a:xfrm>
          <a:prstGeom prst="rect">
            <a:avLst/>
          </a:prstGeom>
        </p:spPr>
      </p:pic>
      <p:sp>
        <p:nvSpPr>
          <p:cNvPr id="9" name="System title"/>
          <p:cNvSpPr txBox="1"/>
          <p:nvPr/>
        </p:nvSpPr>
        <p:spPr>
          <a:xfrm>
            <a:off x="0" y="6362700"/>
            <a:ext cx="10287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50" b="1">
                <a:solidFill>
                  <a:srgbClr val="111111"/>
                </a:solidFill>
                <a:latin typeface="Arial"/>
              </a:rPr>
              <a:t>System 3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0" y="748665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>
                <a:solidFill>
                  <a:srgbClr val="444444"/>
                </a:solidFill>
                <a:latin typeface="Arial"/>
              </a:rPr>
              <a:t>Up to 3 rooms · 5 Ticks</a:t>
            </a:r>
          </a:p>
        </p:txBody>
      </p:sp>
      <p:sp>
        <p:nvSpPr>
          <p:cNvPr id="11" name="Free upgrade heading"/>
          <p:cNvSpPr txBox="1"/>
          <p:nvPr/>
        </p:nvSpPr>
        <p:spPr>
          <a:xfrm>
            <a:off x="285750" y="8458200"/>
            <a:ext cx="28575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5BAD92"/>
                </a:solidFill>
                <a:latin typeface="Arial"/>
              </a:rPr>
              <a:t>Free Upgrade To Premium Materials</a:t>
            </a:r>
          </a:p>
        </p:txBody>
      </p:sp>
      <p:pic>
        <p:nvPicPr>
          <p:cNvPr id="12" name="Material tile 1" descr="tile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4225" y="8201025"/>
            <a:ext cx="1714500" cy="1762125"/>
          </a:xfrm>
          <a:prstGeom prst="rect">
            <a:avLst/>
          </a:prstGeom>
        </p:spPr>
      </p:pic>
      <p:pic>
        <p:nvPicPr>
          <p:cNvPr id="13" name="Material tile 2" descr="tile-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0650" y="8201025"/>
            <a:ext cx="1762125" cy="1762125"/>
          </a:xfrm>
          <a:prstGeom prst="rect">
            <a:avLst/>
          </a:prstGeom>
        </p:spPr>
      </p:pic>
      <p:pic>
        <p:nvPicPr>
          <p:cNvPr id="14" name="Material tile 3" descr="tile-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2325" y="8201025"/>
            <a:ext cx="1676400" cy="1762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ool logo" descr="k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33350"/>
            <a:ext cx="1695450" cy="714375"/>
          </a:xfrm>
          <a:prstGeom prst="rect">
            <a:avLst/>
          </a:prstGeom>
        </p:spPr>
      </p:pic>
      <p:pic>
        <p:nvPicPr>
          <p:cNvPr id="3" name="Mitsubishi Starmex logo" descr="starme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685800"/>
            <a:ext cx="5334000" cy="1457325"/>
          </a:xfrm>
          <a:prstGeom prst="rect">
            <a:avLst/>
          </a:prstGeom>
        </p:spPr>
      </p:pic>
      <p:pic>
        <p:nvPicPr>
          <p:cNvPr id="4" name="NEA energy label" descr="label-s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0" y="704850"/>
            <a:ext cx="1238250" cy="1295400"/>
          </a:xfrm>
          <a:prstGeom prst="rect">
            <a:avLst/>
          </a:prstGeom>
        </p:spPr>
      </p:pic>
      <p:pic>
        <p:nvPicPr>
          <p:cNvPr id="5" name="Outdoor unit" descr="unit-s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575" y="2571750"/>
            <a:ext cx="4133850" cy="3429000"/>
          </a:xfrm>
          <a:prstGeom prst="rect">
            <a:avLst/>
          </a:prstGeom>
        </p:spPr>
      </p:pic>
      <p:pic>
        <p:nvPicPr>
          <p:cNvPr id="6" name="Indoor unit 1" descr="mit-indoor-f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2495550"/>
            <a:ext cx="2857500" cy="923925"/>
          </a:xfrm>
          <a:prstGeom prst="rect">
            <a:avLst/>
          </a:prstGeom>
        </p:spPr>
      </p:pic>
      <p:pic>
        <p:nvPicPr>
          <p:cNvPr id="7" name="Indoor unit 2" descr="mit-indoor-f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4248150"/>
            <a:ext cx="2857500" cy="923925"/>
          </a:xfrm>
          <a:prstGeom prst="rect">
            <a:avLst/>
          </a:prstGeom>
        </p:spPr>
      </p:pic>
      <p:pic>
        <p:nvPicPr>
          <p:cNvPr id="8" name="Indoor unit 3" descr="mit-indoor-f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3300" y="2495550"/>
            <a:ext cx="2857500" cy="923925"/>
          </a:xfrm>
          <a:prstGeom prst="rect">
            <a:avLst/>
          </a:prstGeom>
        </p:spPr>
      </p:pic>
      <p:pic>
        <p:nvPicPr>
          <p:cNvPr id="9" name="Indoor unit 4" descr="mit-indoor-f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3300" y="4248150"/>
            <a:ext cx="2857500" cy="923925"/>
          </a:xfrm>
          <a:prstGeom prst="rect">
            <a:avLst/>
          </a:prstGeom>
        </p:spPr>
      </p:pic>
      <p:sp>
        <p:nvSpPr>
          <p:cNvPr id="10" name="System title"/>
          <p:cNvSpPr txBox="1"/>
          <p:nvPr/>
        </p:nvSpPr>
        <p:spPr>
          <a:xfrm>
            <a:off x="0" y="6362700"/>
            <a:ext cx="10287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50" b="1">
                <a:solidFill>
                  <a:srgbClr val="111111"/>
                </a:solidFill>
                <a:latin typeface="Arial"/>
              </a:rPr>
              <a:t>System 4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0" y="748665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>
                <a:solidFill>
                  <a:srgbClr val="444444"/>
                </a:solidFill>
                <a:latin typeface="Arial"/>
              </a:rPr>
              <a:t>Up to 4 rooms · 5 Ticks</a:t>
            </a:r>
          </a:p>
        </p:txBody>
      </p:sp>
      <p:sp>
        <p:nvSpPr>
          <p:cNvPr id="12" name="Free upgrade heading"/>
          <p:cNvSpPr txBox="1"/>
          <p:nvPr/>
        </p:nvSpPr>
        <p:spPr>
          <a:xfrm>
            <a:off x="285750" y="8458200"/>
            <a:ext cx="28575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5BAD92"/>
                </a:solidFill>
                <a:latin typeface="Arial"/>
              </a:rPr>
              <a:t>Free Upgrade To Premium Materials</a:t>
            </a:r>
          </a:p>
        </p:txBody>
      </p:sp>
      <p:pic>
        <p:nvPicPr>
          <p:cNvPr id="13" name="Material tile 1" descr="tile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4225" y="8201025"/>
            <a:ext cx="1714500" cy="1762125"/>
          </a:xfrm>
          <a:prstGeom prst="rect">
            <a:avLst/>
          </a:prstGeom>
        </p:spPr>
      </p:pic>
      <p:pic>
        <p:nvPicPr>
          <p:cNvPr id="14" name="Material tile 2" descr="tile-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0650" y="8201025"/>
            <a:ext cx="1762125" cy="1762125"/>
          </a:xfrm>
          <a:prstGeom prst="rect">
            <a:avLst/>
          </a:prstGeom>
        </p:spPr>
      </p:pic>
      <p:pic>
        <p:nvPicPr>
          <p:cNvPr id="15" name="Material tile 3" descr="tile-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2325" y="8201025"/>
            <a:ext cx="1676400" cy="1762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itsubishi Starmex logo" descr="starm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666750"/>
            <a:ext cx="5334000" cy="1457325"/>
          </a:xfrm>
          <a:prstGeom prst="rect">
            <a:avLst/>
          </a:prstGeom>
        </p:spPr>
      </p:pic>
      <p:pic>
        <p:nvPicPr>
          <p:cNvPr id="3" name="Outdoor unit" descr="unit-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5" y="2381250"/>
            <a:ext cx="4857750" cy="3143250"/>
          </a:xfrm>
          <a:prstGeom prst="rect">
            <a:avLst/>
          </a:prstGeom>
        </p:spPr>
      </p:pic>
      <p:pic>
        <p:nvPicPr>
          <p:cNvPr id="4" name="Indoor unit" descr="mit-indoor-g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857500"/>
            <a:ext cx="2857500" cy="1038225"/>
          </a:xfrm>
          <a:prstGeom prst="rect">
            <a:avLst/>
          </a:prstGeom>
        </p:spPr>
      </p:pic>
      <p:pic>
        <p:nvPicPr>
          <p:cNvPr id="5" name="NEA energy label" descr="label-s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2552700"/>
            <a:ext cx="1381125" cy="1428750"/>
          </a:xfrm>
          <a:prstGeom prst="rect">
            <a:avLst/>
          </a:prstGeom>
        </p:spPr>
      </p:pic>
      <p:sp>
        <p:nvSpPr>
          <p:cNvPr id="6" name="System title"/>
          <p:cNvSpPr txBox="1"/>
          <p:nvPr/>
        </p:nvSpPr>
        <p:spPr>
          <a:xfrm>
            <a:off x="0" y="6000750"/>
            <a:ext cx="10287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0" b="1">
                <a:solidFill>
                  <a:srgbClr val="111111"/>
                </a:solidFill>
                <a:latin typeface="Arial"/>
              </a:rPr>
              <a:t>System 1</a:t>
            </a:r>
          </a:p>
        </p:txBody>
      </p:sp>
      <p:sp>
        <p:nvSpPr>
          <p:cNvPr id="7" name="Ticks pill"/>
          <p:cNvSpPr/>
          <p:nvPr/>
        </p:nvSpPr>
        <p:spPr>
          <a:xfrm>
            <a:off x="2857500" y="7429500"/>
            <a:ext cx="4572000" cy="685800"/>
          </a:xfrm>
          <a:prstGeom prst="roundRect">
            <a:avLst>
              <a:gd name="adj" fmla="val 50000"/>
            </a:avLst>
          </a:prstGeom>
          <a:solidFill>
            <a:srgbClr val="5BA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 Ticks · R32 Inverter</a:t>
            </a:r>
          </a:p>
        </p:txBody>
      </p:sp>
      <p:pic>
        <p:nvPicPr>
          <p:cNvPr id="8" name="Kool logo" descr="kool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0" y="8572500"/>
            <a:ext cx="209550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itsubishi Starmex logo" descr="starm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666750"/>
            <a:ext cx="5334000" cy="1457325"/>
          </a:xfrm>
          <a:prstGeom prst="rect">
            <a:avLst/>
          </a:prstGeom>
        </p:spPr>
      </p:pic>
      <p:pic>
        <p:nvPicPr>
          <p:cNvPr id="3" name="Outdoor unit" descr="unit-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0" y="2381250"/>
            <a:ext cx="4772025" cy="3143250"/>
          </a:xfrm>
          <a:prstGeom prst="rect">
            <a:avLst/>
          </a:prstGeom>
        </p:spPr>
      </p:pic>
      <p:pic>
        <p:nvPicPr>
          <p:cNvPr id="4" name="Indoor unit" descr="mit-indoor-f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857500"/>
            <a:ext cx="2857500" cy="923925"/>
          </a:xfrm>
          <a:prstGeom prst="rect">
            <a:avLst/>
          </a:prstGeom>
        </p:spPr>
      </p:pic>
      <p:pic>
        <p:nvPicPr>
          <p:cNvPr id="5" name="NEA energy label" descr="label-s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2552700"/>
            <a:ext cx="1428750" cy="1428750"/>
          </a:xfrm>
          <a:prstGeom prst="rect">
            <a:avLst/>
          </a:prstGeom>
        </p:spPr>
      </p:pic>
      <p:sp>
        <p:nvSpPr>
          <p:cNvPr id="6" name="System title"/>
          <p:cNvSpPr txBox="1"/>
          <p:nvPr/>
        </p:nvSpPr>
        <p:spPr>
          <a:xfrm>
            <a:off x="0" y="6000750"/>
            <a:ext cx="10287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0" b="1">
                <a:solidFill>
                  <a:srgbClr val="111111"/>
                </a:solidFill>
                <a:latin typeface="Arial"/>
              </a:rPr>
              <a:t>System 2</a:t>
            </a:r>
          </a:p>
        </p:txBody>
      </p:sp>
      <p:sp>
        <p:nvSpPr>
          <p:cNvPr id="7" name="Ticks pill"/>
          <p:cNvSpPr/>
          <p:nvPr/>
        </p:nvSpPr>
        <p:spPr>
          <a:xfrm>
            <a:off x="2857500" y="7429500"/>
            <a:ext cx="4572000" cy="685800"/>
          </a:xfrm>
          <a:prstGeom prst="roundRect">
            <a:avLst>
              <a:gd name="adj" fmla="val 50000"/>
            </a:avLst>
          </a:prstGeom>
          <a:solidFill>
            <a:srgbClr val="5BA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 Ticks · R32 Inverter</a:t>
            </a:r>
          </a:p>
        </p:txBody>
      </p:sp>
      <p:pic>
        <p:nvPicPr>
          <p:cNvPr id="8" name="Kool logo" descr="kool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0" y="8572500"/>
            <a:ext cx="209550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itsubishi Starmex logo" descr="starm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666750"/>
            <a:ext cx="5334000" cy="1457325"/>
          </a:xfrm>
          <a:prstGeom prst="rect">
            <a:avLst/>
          </a:prstGeom>
        </p:spPr>
      </p:pic>
      <p:pic>
        <p:nvPicPr>
          <p:cNvPr id="3" name="Outdoor unit" descr="unit-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850" y="2381250"/>
            <a:ext cx="3533775" cy="3143250"/>
          </a:xfrm>
          <a:prstGeom prst="rect">
            <a:avLst/>
          </a:prstGeom>
        </p:spPr>
      </p:pic>
      <p:pic>
        <p:nvPicPr>
          <p:cNvPr id="4" name="Indoor unit" descr="mit-indoor-f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857500"/>
            <a:ext cx="2857500" cy="923925"/>
          </a:xfrm>
          <a:prstGeom prst="rect">
            <a:avLst/>
          </a:prstGeom>
        </p:spPr>
      </p:pic>
      <p:pic>
        <p:nvPicPr>
          <p:cNvPr id="5" name="NEA energy label" descr="label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2552700"/>
            <a:ext cx="1428750" cy="1428750"/>
          </a:xfrm>
          <a:prstGeom prst="rect">
            <a:avLst/>
          </a:prstGeom>
        </p:spPr>
      </p:pic>
      <p:sp>
        <p:nvSpPr>
          <p:cNvPr id="6" name="System title"/>
          <p:cNvSpPr txBox="1"/>
          <p:nvPr/>
        </p:nvSpPr>
        <p:spPr>
          <a:xfrm>
            <a:off x="0" y="6000750"/>
            <a:ext cx="10287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0" b="1">
                <a:solidFill>
                  <a:srgbClr val="111111"/>
                </a:solidFill>
                <a:latin typeface="Arial"/>
              </a:rPr>
              <a:t>System 3</a:t>
            </a:r>
          </a:p>
        </p:txBody>
      </p:sp>
      <p:sp>
        <p:nvSpPr>
          <p:cNvPr id="7" name="Ticks pill"/>
          <p:cNvSpPr/>
          <p:nvPr/>
        </p:nvSpPr>
        <p:spPr>
          <a:xfrm>
            <a:off x="2857500" y="7429500"/>
            <a:ext cx="4572000" cy="685800"/>
          </a:xfrm>
          <a:prstGeom prst="roundRect">
            <a:avLst>
              <a:gd name="adj" fmla="val 50000"/>
            </a:avLst>
          </a:prstGeom>
          <a:solidFill>
            <a:srgbClr val="5BA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 Ticks · R32 Inverter</a:t>
            </a:r>
          </a:p>
        </p:txBody>
      </p:sp>
      <p:pic>
        <p:nvPicPr>
          <p:cNvPr id="8" name="Kool logo" descr="kool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0" y="8572500"/>
            <a:ext cx="209550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itsubishi Starmex logo" descr="starm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666750"/>
            <a:ext cx="5334000" cy="1457325"/>
          </a:xfrm>
          <a:prstGeom prst="rect">
            <a:avLst/>
          </a:prstGeom>
        </p:spPr>
      </p:pic>
      <p:pic>
        <p:nvPicPr>
          <p:cNvPr id="3" name="Outdoor unit" descr="unit-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550" y="2381250"/>
            <a:ext cx="3781425" cy="3143250"/>
          </a:xfrm>
          <a:prstGeom prst="rect">
            <a:avLst/>
          </a:prstGeom>
        </p:spPr>
      </p:pic>
      <p:pic>
        <p:nvPicPr>
          <p:cNvPr id="4" name="Indoor unit" descr="mit-indoor-f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857500"/>
            <a:ext cx="2857500" cy="923925"/>
          </a:xfrm>
          <a:prstGeom prst="rect">
            <a:avLst/>
          </a:prstGeom>
        </p:spPr>
      </p:pic>
      <p:pic>
        <p:nvPicPr>
          <p:cNvPr id="5" name="NEA energy label" descr="label-s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2552700"/>
            <a:ext cx="1371600" cy="1428750"/>
          </a:xfrm>
          <a:prstGeom prst="rect">
            <a:avLst/>
          </a:prstGeom>
        </p:spPr>
      </p:pic>
      <p:sp>
        <p:nvSpPr>
          <p:cNvPr id="6" name="System title"/>
          <p:cNvSpPr txBox="1"/>
          <p:nvPr/>
        </p:nvSpPr>
        <p:spPr>
          <a:xfrm>
            <a:off x="0" y="6000750"/>
            <a:ext cx="10287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0" b="1">
                <a:solidFill>
                  <a:srgbClr val="111111"/>
                </a:solidFill>
                <a:latin typeface="Arial"/>
              </a:rPr>
              <a:t>System 4</a:t>
            </a:r>
          </a:p>
        </p:txBody>
      </p:sp>
      <p:sp>
        <p:nvSpPr>
          <p:cNvPr id="7" name="Ticks pill"/>
          <p:cNvSpPr/>
          <p:nvPr/>
        </p:nvSpPr>
        <p:spPr>
          <a:xfrm>
            <a:off x="2857500" y="7429500"/>
            <a:ext cx="4572000" cy="685800"/>
          </a:xfrm>
          <a:prstGeom prst="roundRect">
            <a:avLst>
              <a:gd name="adj" fmla="val 50000"/>
            </a:avLst>
          </a:prstGeom>
          <a:solidFill>
            <a:srgbClr val="5BA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 Ticks · R32 Inverter</a:t>
            </a:r>
          </a:p>
        </p:txBody>
      </p:sp>
      <p:pic>
        <p:nvPicPr>
          <p:cNvPr id="8" name="Kool logo" descr="kool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0" y="8572500"/>
            <a:ext cx="209550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ool logo" descr="k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33350"/>
            <a:ext cx="1695450" cy="714375"/>
          </a:xfrm>
          <a:prstGeom prst="rect">
            <a:avLst/>
          </a:prstGeom>
        </p:spPr>
      </p:pic>
      <p:sp>
        <p:nvSpPr>
          <p:cNvPr id="3" name="Page title"/>
          <p:cNvSpPr txBox="1"/>
          <p:nvPr/>
        </p:nvSpPr>
        <p:spPr>
          <a:xfrm>
            <a:off x="571500" y="1238250"/>
            <a:ext cx="914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50" b="1">
                <a:solidFill>
                  <a:srgbClr val="111111"/>
                </a:solidFill>
                <a:latin typeface="Arial"/>
              </a:rPr>
              <a:t>Supply Only</a:t>
            </a:r>
          </a:p>
        </p:txBody>
      </p:sp>
      <p:sp>
        <p:nvSpPr>
          <p:cNvPr id="4" name="Lead text"/>
          <p:cNvSpPr txBox="1"/>
          <p:nvPr/>
        </p:nvSpPr>
        <p:spPr>
          <a:xfrm>
            <a:off x="571500" y="21526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25" b="0">
                <a:solidFill>
                  <a:srgbClr val="444444"/>
                </a:solidFill>
                <a:latin typeface="Arial"/>
              </a:rPr>
              <a:t>Indoor and outdoor units delivered to your home in original manufacturer packaging.</a:t>
            </a:r>
          </a:p>
        </p:txBody>
      </p:sp>
      <p:sp>
        <p:nvSpPr>
          <p:cNvPr id="5" name="Icon tile 1"/>
          <p:cNvSpPr/>
          <p:nvPr/>
        </p:nvSpPr>
        <p:spPr>
          <a:xfrm>
            <a:off x="571500" y="3619500"/>
            <a:ext cx="819150" cy="819150"/>
          </a:xfrm>
          <a:prstGeom prst="roundRect">
            <a:avLst>
              <a:gd name="adj" fmla="val 18000"/>
            </a:avLst>
          </a:prstGeom>
          <a:solidFill>
            <a:srgbClr val="E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int 1 title"/>
          <p:cNvSpPr txBox="1"/>
          <p:nvPr/>
        </p:nvSpPr>
        <p:spPr>
          <a:xfrm>
            <a:off x="1676400" y="3676650"/>
            <a:ext cx="8001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11111"/>
                </a:solidFill>
                <a:latin typeface="Arial"/>
              </a:rPr>
              <a:t>Delivered in original packaging</a:t>
            </a:r>
          </a:p>
        </p:txBody>
      </p:sp>
      <p:sp>
        <p:nvSpPr>
          <p:cNvPr id="7" name="Point 1 detail"/>
          <p:cNvSpPr txBox="1"/>
          <p:nvPr/>
        </p:nvSpPr>
        <p:spPr>
          <a:xfrm>
            <a:off x="1676400" y="41529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0">
                <a:solidFill>
                  <a:srgbClr val="444444"/>
                </a:solidFill>
                <a:latin typeface="Arial"/>
              </a:rPr>
              <a:t>Mainland Singapore delivery</a:t>
            </a:r>
          </a:p>
        </p:txBody>
      </p:sp>
      <p:sp>
        <p:nvSpPr>
          <p:cNvPr id="8" name="Icon tile 2"/>
          <p:cNvSpPr/>
          <p:nvPr/>
        </p:nvSpPr>
        <p:spPr>
          <a:xfrm>
            <a:off x="571500" y="5048250"/>
            <a:ext cx="819150" cy="819150"/>
          </a:xfrm>
          <a:prstGeom prst="roundRect">
            <a:avLst>
              <a:gd name="adj" fmla="val 18000"/>
            </a:avLst>
          </a:prstGeom>
          <a:solidFill>
            <a:srgbClr val="E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int 2 title"/>
          <p:cNvSpPr txBox="1"/>
          <p:nvPr/>
        </p:nvSpPr>
        <p:spPr>
          <a:xfrm>
            <a:off x="1676400" y="5105400"/>
            <a:ext cx="8001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11111"/>
                </a:solidFill>
                <a:latin typeface="Arial"/>
              </a:rPr>
              <a:t>Installation not included</a:t>
            </a:r>
          </a:p>
        </p:txBody>
      </p:sp>
      <p:sp>
        <p:nvSpPr>
          <p:cNvPr id="10" name="Point 2 detail"/>
          <p:cNvSpPr txBox="1"/>
          <p:nvPr/>
        </p:nvSpPr>
        <p:spPr>
          <a:xfrm>
            <a:off x="1676400" y="558165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0">
                <a:solidFill>
                  <a:srgbClr val="444444"/>
                </a:solidFill>
                <a:latin typeface="Arial"/>
              </a:rPr>
              <a:t>Choose this if you already have an installer</a:t>
            </a:r>
          </a:p>
        </p:txBody>
      </p:sp>
      <p:sp>
        <p:nvSpPr>
          <p:cNvPr id="11" name="Icon tile 3"/>
          <p:cNvSpPr/>
          <p:nvPr/>
        </p:nvSpPr>
        <p:spPr>
          <a:xfrm>
            <a:off x="571500" y="6477000"/>
            <a:ext cx="819150" cy="819150"/>
          </a:xfrm>
          <a:prstGeom prst="roundRect">
            <a:avLst>
              <a:gd name="adj" fmla="val 18000"/>
            </a:avLst>
          </a:prstGeom>
          <a:solidFill>
            <a:srgbClr val="E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oint 3 title"/>
          <p:cNvSpPr txBox="1"/>
          <p:nvPr/>
        </p:nvSpPr>
        <p:spPr>
          <a:xfrm>
            <a:off x="1676400" y="6534150"/>
            <a:ext cx="8001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11111"/>
                </a:solidFill>
                <a:latin typeface="Arial"/>
              </a:rPr>
              <a:t>Want us to install?</a:t>
            </a:r>
          </a:p>
        </p:txBody>
      </p:sp>
      <p:sp>
        <p:nvSpPr>
          <p:cNvPr id="13" name="Point 3 detail"/>
          <p:cNvSpPr txBox="1"/>
          <p:nvPr/>
        </p:nvSpPr>
        <p:spPr>
          <a:xfrm>
            <a:off x="1676400" y="70104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75" b="0">
                <a:solidFill>
                  <a:srgbClr val="444444"/>
                </a:solidFill>
                <a:latin typeface="Arial"/>
              </a:rPr>
              <a:t>Select Installation Included instead</a:t>
            </a:r>
          </a:p>
        </p:txBody>
      </p:sp>
      <p:pic>
        <p:nvPicPr>
          <p:cNvPr id="14" name="Outdoor unit" descr="unit-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8001000"/>
            <a:ext cx="192405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ool logo" descr="k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33350"/>
            <a:ext cx="1695450" cy="714375"/>
          </a:xfrm>
          <a:prstGeom prst="rect">
            <a:avLst/>
          </a:prstGeom>
        </p:spPr>
      </p:pic>
      <p:sp>
        <p:nvSpPr>
          <p:cNvPr id="3" name="Page title"/>
          <p:cNvSpPr txBox="1"/>
          <p:nvPr/>
        </p:nvSpPr>
        <p:spPr>
          <a:xfrm>
            <a:off x="571500" y="1238250"/>
            <a:ext cx="914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50" b="1">
                <a:solidFill>
                  <a:srgbClr val="111111"/>
                </a:solidFill>
                <a:latin typeface="Arial"/>
              </a:rPr>
              <a:t>Installation Included</a:t>
            </a:r>
          </a:p>
        </p:txBody>
      </p:sp>
      <p:pic>
        <p:nvPicPr>
          <p:cNvPr id="4" name="Installation photo" descr="install-hero-ba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52650"/>
            <a:ext cx="9144000" cy="2857500"/>
          </a:xfrm>
          <a:prstGeom prst="rect">
            <a:avLst/>
          </a:prstGeom>
        </p:spPr>
      </p:pic>
      <p:sp>
        <p:nvSpPr>
          <p:cNvPr id="5" name="Step 1 circle"/>
          <p:cNvSpPr/>
          <p:nvPr/>
        </p:nvSpPr>
        <p:spPr>
          <a:xfrm>
            <a:off x="571500" y="5334000"/>
            <a:ext cx="533400" cy="533400"/>
          </a:xfrm>
          <a:prstGeom prst="ellipse">
            <a:avLst/>
          </a:prstGeom>
          <a:solidFill>
            <a:srgbClr val="5BA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Step 1 text"/>
          <p:cNvSpPr txBox="1"/>
          <p:nvPr/>
        </p:nvSpPr>
        <p:spPr>
          <a:xfrm>
            <a:off x="1333500" y="5448300"/>
            <a:ext cx="838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25" b="0">
                <a:solidFill>
                  <a:srgbClr val="111111"/>
                </a:solidFill>
                <a:latin typeface="Arial"/>
              </a:rPr>
              <a:t>Site assessment: right capacity and placement for each room</a:t>
            </a:r>
          </a:p>
        </p:txBody>
      </p:sp>
      <p:sp>
        <p:nvSpPr>
          <p:cNvPr id="7" name="Step 2 circle"/>
          <p:cNvSpPr/>
          <p:nvPr/>
        </p:nvSpPr>
        <p:spPr>
          <a:xfrm>
            <a:off x="571500" y="6076950"/>
            <a:ext cx="533400" cy="533400"/>
          </a:xfrm>
          <a:prstGeom prst="ellipse">
            <a:avLst/>
          </a:prstGeom>
          <a:solidFill>
            <a:srgbClr val="5BA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Step 2 text"/>
          <p:cNvSpPr txBox="1"/>
          <p:nvPr/>
        </p:nvSpPr>
        <p:spPr>
          <a:xfrm>
            <a:off x="1333500" y="6191250"/>
            <a:ext cx="838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25" b="0">
                <a:solidFill>
                  <a:srgbClr val="111111"/>
                </a:solidFill>
                <a:latin typeface="Arial"/>
              </a:rPr>
              <a:t>Units installed and positioned, cored holes sealed</a:t>
            </a:r>
          </a:p>
        </p:txBody>
      </p:sp>
      <p:sp>
        <p:nvSpPr>
          <p:cNvPr id="9" name="Step 3 circle"/>
          <p:cNvSpPr/>
          <p:nvPr/>
        </p:nvSpPr>
        <p:spPr>
          <a:xfrm>
            <a:off x="571500" y="6819900"/>
            <a:ext cx="533400" cy="533400"/>
          </a:xfrm>
          <a:prstGeom prst="ellipse">
            <a:avLst/>
          </a:prstGeom>
          <a:solidFill>
            <a:srgbClr val="5BA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Step 3 text"/>
          <p:cNvSpPr txBox="1"/>
          <p:nvPr/>
        </p:nvSpPr>
        <p:spPr>
          <a:xfrm>
            <a:off x="1333500" y="6934200"/>
            <a:ext cx="838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25" b="0">
                <a:solidFill>
                  <a:srgbClr val="111111"/>
                </a:solidFill>
                <a:latin typeface="Arial"/>
              </a:rPr>
              <a:t>Insulated pipes and wiring, neatly trunked</a:t>
            </a:r>
          </a:p>
        </p:txBody>
      </p:sp>
      <p:sp>
        <p:nvSpPr>
          <p:cNvPr id="11" name="Step 4 circle"/>
          <p:cNvSpPr/>
          <p:nvPr/>
        </p:nvSpPr>
        <p:spPr>
          <a:xfrm>
            <a:off x="571500" y="7562850"/>
            <a:ext cx="533400" cy="533400"/>
          </a:xfrm>
          <a:prstGeom prst="ellipse">
            <a:avLst/>
          </a:prstGeom>
          <a:solidFill>
            <a:srgbClr val="5BA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Step 4 text"/>
          <p:cNvSpPr txBox="1"/>
          <p:nvPr/>
        </p:nvSpPr>
        <p:spPr>
          <a:xfrm>
            <a:off x="1333500" y="7677150"/>
            <a:ext cx="838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25" b="0">
                <a:solidFill>
                  <a:srgbClr val="111111"/>
                </a:solidFill>
                <a:latin typeface="Arial"/>
              </a:rPr>
              <a:t>Drainage set at the correct gradient</a:t>
            </a:r>
          </a:p>
        </p:txBody>
      </p:sp>
      <p:sp>
        <p:nvSpPr>
          <p:cNvPr id="13" name="Step 5 circle"/>
          <p:cNvSpPr/>
          <p:nvPr/>
        </p:nvSpPr>
        <p:spPr>
          <a:xfrm>
            <a:off x="571500" y="8305800"/>
            <a:ext cx="533400" cy="533400"/>
          </a:xfrm>
          <a:prstGeom prst="ellipse">
            <a:avLst/>
          </a:prstGeom>
          <a:solidFill>
            <a:srgbClr val="5BA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Step 5 text"/>
          <p:cNvSpPr txBox="1"/>
          <p:nvPr/>
        </p:nvSpPr>
        <p:spPr>
          <a:xfrm>
            <a:off x="1333500" y="8420100"/>
            <a:ext cx="838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25" b="0">
                <a:solidFill>
                  <a:srgbClr val="111111"/>
                </a:solidFill>
                <a:latin typeface="Arial"/>
              </a:rPr>
              <a:t>Full operational test before we leave</a:t>
            </a:r>
          </a:p>
        </p:txBody>
      </p:sp>
      <p:sp>
        <p:nvSpPr>
          <p:cNvPr id="15" name="Pipe note"/>
          <p:cNvSpPr txBox="1"/>
          <p:nvPr/>
        </p:nvSpPr>
        <p:spPr>
          <a:xfrm>
            <a:off x="571500" y="92202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44444"/>
                </a:solidFill>
                <a:latin typeface="Arial"/>
              </a:rPr>
              <a:t>Covers pipe runs up to 15 m per unit.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ool logo" descr="k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33350"/>
            <a:ext cx="1695450" cy="714375"/>
          </a:xfrm>
          <a:prstGeom prst="rect">
            <a:avLst/>
          </a:prstGeom>
        </p:spPr>
      </p:pic>
      <p:sp>
        <p:nvSpPr>
          <p:cNvPr id="3" name="Page title"/>
          <p:cNvSpPr txBox="1"/>
          <p:nvPr/>
        </p:nvSpPr>
        <p:spPr>
          <a:xfrm>
            <a:off x="571500" y="1238250"/>
            <a:ext cx="914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50" b="1">
                <a:solidFill>
                  <a:srgbClr val="111111"/>
                </a:solidFill>
                <a:latin typeface="Arial"/>
              </a:rPr>
              <a:t>We only use high quality materials</a:t>
            </a:r>
          </a:p>
        </p:txBody>
      </p:sp>
      <p:pic>
        <p:nvPicPr>
          <p:cNvPr id="4" name="Material tile 1" descr="til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81250"/>
            <a:ext cx="2781300" cy="2857500"/>
          </a:xfrm>
          <a:prstGeom prst="rect">
            <a:avLst/>
          </a:prstGeom>
        </p:spPr>
      </p:pic>
      <p:pic>
        <p:nvPicPr>
          <p:cNvPr id="5" name="Material tile 2" descr="tile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2381250"/>
            <a:ext cx="2857500" cy="2857500"/>
          </a:xfrm>
          <a:prstGeom prst="rect">
            <a:avLst/>
          </a:prstGeom>
        </p:spPr>
      </p:pic>
      <p:pic>
        <p:nvPicPr>
          <p:cNvPr id="6" name="Material tile 3" descr="tile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381250"/>
            <a:ext cx="2714625" cy="2857500"/>
          </a:xfrm>
          <a:prstGeom prst="rect">
            <a:avLst/>
          </a:prstGeom>
        </p:spPr>
      </p:pic>
      <p:sp>
        <p:nvSpPr>
          <p:cNvPr id="7" name="Divider 1"/>
          <p:cNvSpPr/>
          <p:nvPr/>
        </p:nvSpPr>
        <p:spPr>
          <a:xfrm>
            <a:off x="571500" y="5905500"/>
            <a:ext cx="9144000" cy="1905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aterial 4"/>
          <p:cNvSpPr txBox="1"/>
          <p:nvPr/>
        </p:nvSpPr>
        <p:spPr>
          <a:xfrm>
            <a:off x="571500" y="6115050"/>
            <a:ext cx="9144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rial"/>
              </a:rPr>
              <a:t>16mm drainage pipe</a:t>
            </a:r>
          </a:p>
        </p:txBody>
      </p:sp>
      <p:sp>
        <p:nvSpPr>
          <p:cNvPr id="9" name="Divider 2"/>
          <p:cNvSpPr/>
          <p:nvPr/>
        </p:nvSpPr>
        <p:spPr>
          <a:xfrm>
            <a:off x="571500" y="7010400"/>
            <a:ext cx="9144000" cy="1905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aterial 5"/>
          <p:cNvSpPr txBox="1"/>
          <p:nvPr/>
        </p:nvSpPr>
        <p:spPr>
          <a:xfrm>
            <a:off x="571500" y="7219950"/>
            <a:ext cx="9144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rial"/>
              </a:rPr>
              <a:t>DNE PVC trunking</a:t>
            </a:r>
          </a:p>
        </p:txBody>
      </p:sp>
      <p:sp>
        <p:nvSpPr>
          <p:cNvPr id="11" name="Divider 3"/>
          <p:cNvSpPr/>
          <p:nvPr/>
        </p:nvSpPr>
        <p:spPr>
          <a:xfrm>
            <a:off x="571500" y="8115300"/>
            <a:ext cx="9144000" cy="1905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aterial 6"/>
          <p:cNvSpPr txBox="1"/>
          <p:nvPr/>
        </p:nvSpPr>
        <p:spPr>
          <a:xfrm>
            <a:off x="571500" y="8324850"/>
            <a:ext cx="9144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rial"/>
              </a:rPr>
              <a:t>Grade 304 stainless brackets</a:t>
            </a:r>
          </a:p>
        </p:txBody>
      </p:sp>
      <p:sp>
        <p:nvSpPr>
          <p:cNvPr id="13" name="Material 6 detail"/>
          <p:cNvSpPr txBox="1"/>
          <p:nvPr/>
        </p:nvSpPr>
        <p:spPr>
          <a:xfrm>
            <a:off x="571500" y="8763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0">
                <a:solidFill>
                  <a:srgbClr val="444444"/>
                </a:solidFill>
                <a:latin typeface="Arial"/>
              </a:rPr>
              <a:t>Rust-resistant in Singapore's humidity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ool logo" descr="k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33350"/>
            <a:ext cx="1695450" cy="714375"/>
          </a:xfrm>
          <a:prstGeom prst="rect">
            <a:avLst/>
          </a:prstGeom>
        </p:spPr>
      </p:pic>
      <p:sp>
        <p:nvSpPr>
          <p:cNvPr id="3" name="Page title"/>
          <p:cNvSpPr txBox="1"/>
          <p:nvPr/>
        </p:nvSpPr>
        <p:spPr>
          <a:xfrm>
            <a:off x="571500" y="1238250"/>
            <a:ext cx="914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50" b="1">
                <a:solidFill>
                  <a:srgbClr val="111111"/>
                </a:solidFill>
                <a:latin typeface="Arial"/>
              </a:rPr>
              <a:t>Starmex indoor sizes</a:t>
            </a:r>
          </a:p>
        </p:txBody>
      </p:sp>
      <p:sp>
        <p:nvSpPr>
          <p:cNvPr id="4" name="Lead text"/>
          <p:cNvSpPr txBox="1"/>
          <p:nvPr/>
        </p:nvSpPr>
        <p:spPr>
          <a:xfrm>
            <a:off x="571500" y="21526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25" b="0">
                <a:solidFill>
                  <a:srgbClr val="444444"/>
                </a:solidFill>
                <a:latin typeface="Arial"/>
              </a:rPr>
              <a:t>Mix sizes to suit each room.</a:t>
            </a:r>
          </a:p>
        </p:txBody>
      </p:sp>
      <p:pic>
        <p:nvPicPr>
          <p:cNvPr id="5" name="Indoor unit" descr="mit-indoor-f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2057400"/>
            <a:ext cx="4000500" cy="1295400"/>
          </a:xfrm>
          <a:prstGeom prst="rect">
            <a:avLst/>
          </a:prstGeom>
        </p:spPr>
      </p:pic>
      <p:sp>
        <p:nvSpPr>
          <p:cNvPr id="6" name="Header Model"/>
          <p:cNvSpPr txBox="1"/>
          <p:nvPr/>
        </p:nvSpPr>
        <p:spPr>
          <a:xfrm>
            <a:off x="571500" y="38100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888888"/>
                </a:solidFill>
                <a:latin typeface="Arial"/>
              </a:rPr>
              <a:t>MODEL</a:t>
            </a:r>
          </a:p>
        </p:txBody>
      </p:sp>
      <p:sp>
        <p:nvSpPr>
          <p:cNvPr id="7" name="Header Capacity"/>
          <p:cNvSpPr txBox="1"/>
          <p:nvPr/>
        </p:nvSpPr>
        <p:spPr>
          <a:xfrm>
            <a:off x="4953000" y="38100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888888"/>
                </a:solidFill>
                <a:latin typeface="Arial"/>
              </a:rPr>
              <a:t>CAPACITY</a:t>
            </a:r>
          </a:p>
        </p:txBody>
      </p:sp>
      <p:sp>
        <p:nvSpPr>
          <p:cNvPr id="8" name="Header Size"/>
          <p:cNvSpPr txBox="1"/>
          <p:nvPr/>
        </p:nvSpPr>
        <p:spPr>
          <a:xfrm>
            <a:off x="7239000" y="38100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888888"/>
                </a:solidFill>
                <a:latin typeface="Arial"/>
              </a:rPr>
              <a:t>SIZE</a:t>
            </a:r>
          </a:p>
        </p:txBody>
      </p:sp>
      <p:sp>
        <p:nvSpPr>
          <p:cNvPr id="9" name="Row divider 1"/>
          <p:cNvSpPr/>
          <p:nvPr/>
        </p:nvSpPr>
        <p:spPr>
          <a:xfrm>
            <a:off x="571500" y="4248150"/>
            <a:ext cx="9144000" cy="1905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odel 1"/>
          <p:cNvSpPr txBox="1"/>
          <p:nvPr/>
        </p:nvSpPr>
        <p:spPr>
          <a:xfrm>
            <a:off x="571500" y="4476750"/>
            <a:ext cx="4191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rial"/>
              </a:rPr>
              <a:t>MSXY-FP10VG</a:t>
            </a:r>
          </a:p>
        </p:txBody>
      </p:sp>
      <p:sp>
        <p:nvSpPr>
          <p:cNvPr id="11" name="Capacity 1"/>
          <p:cNvSpPr txBox="1"/>
          <p:nvPr/>
        </p:nvSpPr>
        <p:spPr>
          <a:xfrm>
            <a:off x="4953000" y="449580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0">
                <a:solidFill>
                  <a:srgbClr val="444444"/>
                </a:solidFill>
                <a:latin typeface="Arial"/>
              </a:rPr>
              <a:t>2.8 kW</a:t>
            </a:r>
          </a:p>
        </p:txBody>
      </p:sp>
      <p:sp>
        <p:nvSpPr>
          <p:cNvPr id="12" name="Size 1"/>
          <p:cNvSpPr txBox="1"/>
          <p:nvPr/>
        </p:nvSpPr>
        <p:spPr>
          <a:xfrm>
            <a:off x="7239000" y="4495800"/>
            <a:ext cx="2857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0">
                <a:solidFill>
                  <a:srgbClr val="444444"/>
                </a:solidFill>
                <a:latin typeface="Arial"/>
              </a:rPr>
              <a:t>9,000 BTU</a:t>
            </a:r>
          </a:p>
        </p:txBody>
      </p:sp>
      <p:sp>
        <p:nvSpPr>
          <p:cNvPr id="13" name="Row divider 2"/>
          <p:cNvSpPr/>
          <p:nvPr/>
        </p:nvSpPr>
        <p:spPr>
          <a:xfrm>
            <a:off x="571500" y="5162550"/>
            <a:ext cx="9144000" cy="1905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odel 2"/>
          <p:cNvSpPr txBox="1"/>
          <p:nvPr/>
        </p:nvSpPr>
        <p:spPr>
          <a:xfrm>
            <a:off x="571500" y="5391150"/>
            <a:ext cx="4191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rial"/>
              </a:rPr>
              <a:t>MSXY-FP13VG</a:t>
            </a:r>
          </a:p>
        </p:txBody>
      </p:sp>
      <p:sp>
        <p:nvSpPr>
          <p:cNvPr id="15" name="Capacity 2"/>
          <p:cNvSpPr txBox="1"/>
          <p:nvPr/>
        </p:nvSpPr>
        <p:spPr>
          <a:xfrm>
            <a:off x="4953000" y="541020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0">
                <a:solidFill>
                  <a:srgbClr val="444444"/>
                </a:solidFill>
                <a:latin typeface="Arial"/>
              </a:rPr>
              <a:t>3.5 kW</a:t>
            </a:r>
          </a:p>
        </p:txBody>
      </p:sp>
      <p:sp>
        <p:nvSpPr>
          <p:cNvPr id="16" name="Size 2"/>
          <p:cNvSpPr txBox="1"/>
          <p:nvPr/>
        </p:nvSpPr>
        <p:spPr>
          <a:xfrm>
            <a:off x="7239000" y="5410200"/>
            <a:ext cx="2857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0">
                <a:solidFill>
                  <a:srgbClr val="444444"/>
                </a:solidFill>
                <a:latin typeface="Arial"/>
              </a:rPr>
              <a:t>12,000 BTU</a:t>
            </a:r>
          </a:p>
        </p:txBody>
      </p:sp>
      <p:sp>
        <p:nvSpPr>
          <p:cNvPr id="17" name="Row divider 3"/>
          <p:cNvSpPr/>
          <p:nvPr/>
        </p:nvSpPr>
        <p:spPr>
          <a:xfrm>
            <a:off x="571500" y="6076950"/>
            <a:ext cx="9144000" cy="1905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odel 3"/>
          <p:cNvSpPr txBox="1"/>
          <p:nvPr/>
        </p:nvSpPr>
        <p:spPr>
          <a:xfrm>
            <a:off x="571500" y="6305550"/>
            <a:ext cx="4191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rial"/>
              </a:rPr>
              <a:t>MSXY-FP18VG</a:t>
            </a:r>
          </a:p>
        </p:txBody>
      </p:sp>
      <p:sp>
        <p:nvSpPr>
          <p:cNvPr id="19" name="Capacity 3"/>
          <p:cNvSpPr txBox="1"/>
          <p:nvPr/>
        </p:nvSpPr>
        <p:spPr>
          <a:xfrm>
            <a:off x="4953000" y="632460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0">
                <a:solidFill>
                  <a:srgbClr val="444444"/>
                </a:solidFill>
                <a:latin typeface="Arial"/>
              </a:rPr>
              <a:t>5.0 kW</a:t>
            </a:r>
          </a:p>
        </p:txBody>
      </p:sp>
      <p:sp>
        <p:nvSpPr>
          <p:cNvPr id="20" name="Size 3"/>
          <p:cNvSpPr txBox="1"/>
          <p:nvPr/>
        </p:nvSpPr>
        <p:spPr>
          <a:xfrm>
            <a:off x="7239000" y="6324600"/>
            <a:ext cx="2857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0">
                <a:solidFill>
                  <a:srgbClr val="444444"/>
                </a:solidFill>
                <a:latin typeface="Arial"/>
              </a:rPr>
              <a:t>18,000 BTU</a:t>
            </a:r>
          </a:p>
        </p:txBody>
      </p:sp>
      <p:sp>
        <p:nvSpPr>
          <p:cNvPr id="21" name="Row divider 4"/>
          <p:cNvSpPr/>
          <p:nvPr/>
        </p:nvSpPr>
        <p:spPr>
          <a:xfrm>
            <a:off x="571500" y="6991350"/>
            <a:ext cx="9144000" cy="1905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odel 4"/>
          <p:cNvSpPr txBox="1"/>
          <p:nvPr/>
        </p:nvSpPr>
        <p:spPr>
          <a:xfrm>
            <a:off x="571500" y="7219950"/>
            <a:ext cx="4191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rial"/>
              </a:rPr>
              <a:t>MSXY-FP20VG</a:t>
            </a:r>
          </a:p>
        </p:txBody>
      </p:sp>
      <p:sp>
        <p:nvSpPr>
          <p:cNvPr id="23" name="Capacity 4"/>
          <p:cNvSpPr txBox="1"/>
          <p:nvPr/>
        </p:nvSpPr>
        <p:spPr>
          <a:xfrm>
            <a:off x="4953000" y="723900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0">
                <a:solidFill>
                  <a:srgbClr val="444444"/>
                </a:solidFill>
                <a:latin typeface="Arial"/>
              </a:rPr>
              <a:t>6.0 kW</a:t>
            </a:r>
          </a:p>
        </p:txBody>
      </p:sp>
      <p:sp>
        <p:nvSpPr>
          <p:cNvPr id="24" name="Size 4"/>
          <p:cNvSpPr txBox="1"/>
          <p:nvPr/>
        </p:nvSpPr>
        <p:spPr>
          <a:xfrm>
            <a:off x="7239000" y="7239000"/>
            <a:ext cx="2857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0">
                <a:solidFill>
                  <a:srgbClr val="444444"/>
                </a:solidFill>
                <a:latin typeface="Arial"/>
              </a:rPr>
              <a:t>20,000 BTU</a:t>
            </a:r>
          </a:p>
        </p:txBody>
      </p:sp>
      <p:sp>
        <p:nvSpPr>
          <p:cNvPr id="25" name="Row divider 5"/>
          <p:cNvSpPr/>
          <p:nvPr/>
        </p:nvSpPr>
        <p:spPr>
          <a:xfrm>
            <a:off x="571500" y="7905750"/>
            <a:ext cx="9144000" cy="1905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odel 5"/>
          <p:cNvSpPr txBox="1"/>
          <p:nvPr/>
        </p:nvSpPr>
        <p:spPr>
          <a:xfrm>
            <a:off x="571500" y="8134350"/>
            <a:ext cx="4191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rial"/>
              </a:rPr>
              <a:t>MSXY-FP24VG</a:t>
            </a:r>
          </a:p>
        </p:txBody>
      </p:sp>
      <p:sp>
        <p:nvSpPr>
          <p:cNvPr id="27" name="Capacity 5"/>
          <p:cNvSpPr txBox="1"/>
          <p:nvPr/>
        </p:nvSpPr>
        <p:spPr>
          <a:xfrm>
            <a:off x="4953000" y="815340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0">
                <a:solidFill>
                  <a:srgbClr val="444444"/>
                </a:solidFill>
                <a:latin typeface="Arial"/>
              </a:rPr>
              <a:t>7.1 kW</a:t>
            </a:r>
          </a:p>
        </p:txBody>
      </p:sp>
      <p:sp>
        <p:nvSpPr>
          <p:cNvPr id="28" name="Size 5"/>
          <p:cNvSpPr txBox="1"/>
          <p:nvPr/>
        </p:nvSpPr>
        <p:spPr>
          <a:xfrm>
            <a:off x="7239000" y="8153400"/>
            <a:ext cx="2857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0">
                <a:solidFill>
                  <a:srgbClr val="444444"/>
                </a:solidFill>
                <a:latin typeface="Arial"/>
              </a:rPr>
              <a:t>24,000 BTU</a:t>
            </a:r>
          </a:p>
        </p:txBody>
      </p:sp>
      <p:sp>
        <p:nvSpPr>
          <p:cNvPr id="29" name="Combination note"/>
          <p:cNvSpPr txBox="1"/>
          <p:nvPr/>
        </p:nvSpPr>
        <p:spPr>
          <a:xfrm>
            <a:off x="571500" y="92202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44444"/>
                </a:solidFill>
                <a:latin typeface="Arial"/>
              </a:rPr>
              <a:t>Want a different combination? Ask us on Shopee Chat.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ool logo" descr="k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33350"/>
            <a:ext cx="1695450" cy="714375"/>
          </a:xfrm>
          <a:prstGeom prst="rect">
            <a:avLst/>
          </a:prstGeom>
        </p:spPr>
      </p:pic>
      <p:sp>
        <p:nvSpPr>
          <p:cNvPr id="3" name="Page title"/>
          <p:cNvSpPr txBox="1"/>
          <p:nvPr/>
        </p:nvSpPr>
        <p:spPr>
          <a:xfrm>
            <a:off x="571500" y="1238250"/>
            <a:ext cx="914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50" b="1">
                <a:solidFill>
                  <a:srgbClr val="111111"/>
                </a:solidFill>
                <a:latin typeface="Arial"/>
              </a:rPr>
              <a:t>What may cost extra</a:t>
            </a:r>
          </a:p>
        </p:txBody>
      </p:sp>
      <p:sp>
        <p:nvSpPr>
          <p:cNvPr id="4" name="Lead text"/>
          <p:cNvSpPr txBox="1"/>
          <p:nvPr/>
        </p:nvSpPr>
        <p:spPr>
          <a:xfrm>
            <a:off x="571500" y="21526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25" b="0">
                <a:solidFill>
                  <a:srgbClr val="444444"/>
                </a:solidFill>
                <a:latin typeface="Arial"/>
              </a:rPr>
              <a:t>Our price covers pipe runs up to 15 m per unit. The items below are identified at the site assessment and quoted before any work begins.</a:t>
            </a:r>
          </a:p>
        </p:txBody>
      </p:sp>
      <p:sp>
        <p:nvSpPr>
          <p:cNvPr id="5" name="Bullet 1"/>
          <p:cNvSpPr/>
          <p:nvPr/>
        </p:nvSpPr>
        <p:spPr>
          <a:xfrm>
            <a:off x="571500" y="3962400"/>
            <a:ext cx="171450" cy="171450"/>
          </a:xfrm>
          <a:prstGeom prst="ellipse">
            <a:avLst/>
          </a:prstGeom>
          <a:solidFill>
            <a:srgbClr val="5BA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tra 1"/>
          <p:cNvSpPr txBox="1"/>
          <p:nvPr/>
        </p:nvSpPr>
        <p:spPr>
          <a:xfrm>
            <a:off x="990600" y="381000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111111"/>
                </a:solidFill>
                <a:latin typeface="Arial"/>
              </a:rPr>
              <a:t>Pipe runs longer than 15 m per unit</a:t>
            </a:r>
          </a:p>
        </p:txBody>
      </p:sp>
      <p:sp>
        <p:nvSpPr>
          <p:cNvPr id="7" name="Bullet 2"/>
          <p:cNvSpPr/>
          <p:nvPr/>
        </p:nvSpPr>
        <p:spPr>
          <a:xfrm>
            <a:off x="571500" y="4953000"/>
            <a:ext cx="171450" cy="171450"/>
          </a:xfrm>
          <a:prstGeom prst="ellipse">
            <a:avLst/>
          </a:prstGeom>
          <a:solidFill>
            <a:srgbClr val="5BA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tra 2"/>
          <p:cNvSpPr txBox="1"/>
          <p:nvPr/>
        </p:nvSpPr>
        <p:spPr>
          <a:xfrm>
            <a:off x="990600" y="480060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111111"/>
                </a:solidFill>
                <a:latin typeface="Arial"/>
              </a:rPr>
              <a:t>New brackets</a:t>
            </a:r>
          </a:p>
        </p:txBody>
      </p:sp>
      <p:sp>
        <p:nvSpPr>
          <p:cNvPr id="9" name="Bullet 3"/>
          <p:cNvSpPr/>
          <p:nvPr/>
        </p:nvSpPr>
        <p:spPr>
          <a:xfrm>
            <a:off x="571500" y="5943600"/>
            <a:ext cx="171450" cy="171450"/>
          </a:xfrm>
          <a:prstGeom prst="ellipse">
            <a:avLst/>
          </a:prstGeom>
          <a:solidFill>
            <a:srgbClr val="5BA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xtra 3"/>
          <p:cNvSpPr txBox="1"/>
          <p:nvPr/>
        </p:nvSpPr>
        <p:spPr>
          <a:xfrm>
            <a:off x="990600" y="579120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111111"/>
                </a:solidFill>
                <a:latin typeface="Arial"/>
              </a:rPr>
              <a:t>Powerpoints</a:t>
            </a:r>
          </a:p>
        </p:txBody>
      </p:sp>
      <p:sp>
        <p:nvSpPr>
          <p:cNvPr id="11" name="Bullet 4"/>
          <p:cNvSpPr/>
          <p:nvPr/>
        </p:nvSpPr>
        <p:spPr>
          <a:xfrm>
            <a:off x="571500" y="6934200"/>
            <a:ext cx="171450" cy="171450"/>
          </a:xfrm>
          <a:prstGeom prst="ellipse">
            <a:avLst/>
          </a:prstGeom>
          <a:solidFill>
            <a:srgbClr val="5BA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tra 4"/>
          <p:cNvSpPr txBox="1"/>
          <p:nvPr/>
        </p:nvSpPr>
        <p:spPr>
          <a:xfrm>
            <a:off x="990600" y="678180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>
                <a:solidFill>
                  <a:srgbClr val="111111"/>
                </a:solidFill>
                <a:latin typeface="Arial"/>
              </a:rPr>
              <a:t>Isolator switches</a:t>
            </a:r>
          </a:p>
        </p:txBody>
      </p:sp>
      <p:sp>
        <p:nvSpPr>
          <p:cNvPr id="13" name="Disposal note card"/>
          <p:cNvSpPr/>
          <p:nvPr/>
        </p:nvSpPr>
        <p:spPr>
          <a:xfrm>
            <a:off x="571500" y="8077200"/>
            <a:ext cx="9144000" cy="1143000"/>
          </a:xfrm>
          <a:prstGeom prst="roundRect">
            <a:avLst>
              <a:gd name="adj" fmla="val 12000"/>
            </a:avLst>
          </a:prstGeom>
          <a:solidFill>
            <a:srgbClr val="E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sposal note"/>
          <p:cNvSpPr txBox="1"/>
          <p:nvPr/>
        </p:nvSpPr>
        <p:spPr>
          <a:xfrm>
            <a:off x="914400" y="8420100"/>
            <a:ext cx="8477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25" b="0">
                <a:solidFill>
                  <a:srgbClr val="111111"/>
                </a:solidFill>
                <a:latin typeface="Arial"/>
              </a:rPr>
              <a:t>Replacing an old unit? Removal and disposal can be arranged in the same visit.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ool logo" descr="k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33350"/>
            <a:ext cx="1695450" cy="714375"/>
          </a:xfrm>
          <a:prstGeom prst="rect">
            <a:avLst/>
          </a:prstGeom>
        </p:spPr>
      </p:pic>
      <p:sp>
        <p:nvSpPr>
          <p:cNvPr id="3" name="Page title"/>
          <p:cNvSpPr txBox="1"/>
          <p:nvPr/>
        </p:nvSpPr>
        <p:spPr>
          <a:xfrm>
            <a:off x="571500" y="1238250"/>
            <a:ext cx="914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50" b="1">
                <a:solidFill>
                  <a:srgbClr val="111111"/>
                </a:solidFill>
                <a:latin typeface="Arial"/>
              </a:rPr>
              <a:t>How to order</a:t>
            </a:r>
          </a:p>
        </p:txBody>
      </p:sp>
      <p:sp>
        <p:nvSpPr>
          <p:cNvPr id="4" name="Step 1 circle"/>
          <p:cNvSpPr/>
          <p:nvPr/>
        </p:nvSpPr>
        <p:spPr>
          <a:xfrm>
            <a:off x="571500" y="2857500"/>
            <a:ext cx="876300" cy="876300"/>
          </a:xfrm>
          <a:prstGeom prst="ellipse">
            <a:avLst/>
          </a:prstGeom>
          <a:solidFill>
            <a:srgbClr val="5BA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1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Order step 1"/>
          <p:cNvSpPr txBox="1"/>
          <p:nvPr/>
        </p:nvSpPr>
        <p:spPr>
          <a:xfrm>
            <a:off x="1809750" y="2933700"/>
            <a:ext cx="7905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50" b="1">
                <a:solidFill>
                  <a:srgbClr val="111111"/>
                </a:solidFill>
                <a:latin typeface="Arial"/>
              </a:rPr>
              <a:t>Choose your option</a:t>
            </a:r>
          </a:p>
        </p:txBody>
      </p:sp>
      <p:sp>
        <p:nvSpPr>
          <p:cNvPr id="6" name="Order detail 1"/>
          <p:cNvSpPr txBox="1"/>
          <p:nvPr/>
        </p:nvSpPr>
        <p:spPr>
          <a:xfrm>
            <a:off x="1809750" y="3486150"/>
            <a:ext cx="7905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25" b="0">
                <a:solidFill>
                  <a:srgbClr val="444444"/>
                </a:solidFill>
                <a:latin typeface="Arial"/>
              </a:rPr>
              <a:t>Supply Only or Installation Included, then check out</a:t>
            </a:r>
          </a:p>
        </p:txBody>
      </p:sp>
      <p:sp>
        <p:nvSpPr>
          <p:cNvPr id="7" name="Step 2 circle"/>
          <p:cNvSpPr/>
          <p:nvPr/>
        </p:nvSpPr>
        <p:spPr>
          <a:xfrm>
            <a:off x="571500" y="4572000"/>
            <a:ext cx="876300" cy="876300"/>
          </a:xfrm>
          <a:prstGeom prst="ellipse">
            <a:avLst/>
          </a:prstGeom>
          <a:solidFill>
            <a:srgbClr val="5BA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1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Order step 2"/>
          <p:cNvSpPr txBox="1"/>
          <p:nvPr/>
        </p:nvSpPr>
        <p:spPr>
          <a:xfrm>
            <a:off x="1809750" y="4648200"/>
            <a:ext cx="7905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50" b="1">
                <a:solidFill>
                  <a:srgbClr val="111111"/>
                </a:solidFill>
                <a:latin typeface="Arial"/>
              </a:rPr>
              <a:t>Message us on Shopee Chat</a:t>
            </a:r>
          </a:p>
        </p:txBody>
      </p:sp>
      <p:sp>
        <p:nvSpPr>
          <p:cNvPr id="9" name="Order detail 2"/>
          <p:cNvSpPr txBox="1"/>
          <p:nvPr/>
        </p:nvSpPr>
        <p:spPr>
          <a:xfrm>
            <a:off x="1809750" y="5200650"/>
            <a:ext cx="7905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25" b="0">
                <a:solidFill>
                  <a:srgbClr val="444444"/>
                </a:solidFill>
                <a:latin typeface="Arial"/>
              </a:rPr>
              <a:t>Send your postal code and preferred date</a:t>
            </a:r>
          </a:p>
        </p:txBody>
      </p:sp>
      <p:sp>
        <p:nvSpPr>
          <p:cNvPr id="10" name="Step 3 circle"/>
          <p:cNvSpPr/>
          <p:nvPr/>
        </p:nvSpPr>
        <p:spPr>
          <a:xfrm>
            <a:off x="571500" y="6286500"/>
            <a:ext cx="876300" cy="876300"/>
          </a:xfrm>
          <a:prstGeom prst="ellipse">
            <a:avLst/>
          </a:prstGeom>
          <a:solidFill>
            <a:srgbClr val="5BA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1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Order step 3"/>
          <p:cNvSpPr txBox="1"/>
          <p:nvPr/>
        </p:nvSpPr>
        <p:spPr>
          <a:xfrm>
            <a:off x="1809750" y="6362700"/>
            <a:ext cx="7905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50" b="1">
                <a:solidFill>
                  <a:srgbClr val="111111"/>
                </a:solidFill>
                <a:latin typeface="Arial"/>
              </a:rPr>
              <a:t>We confirm your date</a:t>
            </a:r>
          </a:p>
        </p:txBody>
      </p:sp>
      <p:sp>
        <p:nvSpPr>
          <p:cNvPr id="12" name="Order detail 3"/>
          <p:cNvSpPr txBox="1"/>
          <p:nvPr/>
        </p:nvSpPr>
        <p:spPr>
          <a:xfrm>
            <a:off x="1809750" y="6915150"/>
            <a:ext cx="7905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25" b="0">
                <a:solidFill>
                  <a:srgbClr val="444444"/>
                </a:solidFill>
                <a:latin typeface="Arial"/>
              </a:rPr>
              <a:t>Within 2 working days</a:t>
            </a:r>
          </a:p>
        </p:txBody>
      </p:sp>
      <p:sp>
        <p:nvSpPr>
          <p:cNvPr id="13" name="HDB note"/>
          <p:cNvSpPr txBox="1"/>
          <p:nvPr/>
        </p:nvSpPr>
        <p:spPr>
          <a:xfrm>
            <a:off x="571500" y="8572500"/>
            <a:ext cx="9144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50" b="0">
                <a:solidFill>
                  <a:srgbClr val="444444"/>
                </a:solidFill>
                <a:latin typeface="Arial"/>
              </a:rPr>
              <a:t>For HDB installations, we manage the approval process where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